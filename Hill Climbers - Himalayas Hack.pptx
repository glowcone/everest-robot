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Inter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afd8c103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afd8c103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afd848ce0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afd848ce0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fd8c103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afd8c103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afd8c103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afd8c103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afd8c103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afd8c103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afd8c1033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afd8c103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afd8c1033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afd8c1033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uggingface.co/docs/lerobot/en/ac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xLzzvYyTtkQo1lCqdHGnYXCyiUaeKteW/view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/>
        </p:nvSpPr>
        <p:spPr>
          <a:xfrm>
            <a:off x="283850" y="363525"/>
            <a:ext cx="5108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7FA"/>
              </a:buClr>
              <a:buSzPts val="4000"/>
              <a:buFont typeface="Cambria"/>
              <a:buNone/>
            </a:pPr>
            <a:r>
              <a:rPr b="1" lang="en" sz="4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Everest Robot</a:t>
            </a:r>
            <a:endParaRPr sz="4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365475" y="1025075"/>
            <a:ext cx="639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Calibri"/>
                <a:ea typeface="Calibri"/>
                <a:cs typeface="Calibri"/>
                <a:sym typeface="Calibri"/>
              </a:rPr>
              <a:t>Fault-aware attachment autonomy for extreme environment climbing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365475" y="13152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Himalaya Robotics Hack  ·  2026-08-30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365475" y="1669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 are the</a:t>
            </a: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{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Hill Climbers}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5" name="Google Shape;365;p47" title="Gemini_Generated_Image_e3u775e3u775e3u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9087" y="1564125"/>
            <a:ext cx="5520574" cy="301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48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{Problem}</a:t>
            </a:r>
            <a:endParaRPr/>
          </a:p>
        </p:txBody>
      </p:sp>
      <p:sp>
        <p:nvSpPr>
          <p:cNvPr id="372" name="Google Shape;372;p48"/>
          <p:cNvSpPr txBox="1"/>
          <p:nvPr/>
        </p:nvSpPr>
        <p:spPr>
          <a:xfrm>
            <a:off x="483369" y="1156495"/>
            <a:ext cx="79266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7FA"/>
              </a:buClr>
              <a:buSzPts val="984"/>
              <a:buFont typeface="Calibri"/>
              <a:buNone/>
            </a:pP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Clipping a safety clip high up is easy for a rested person who is climbing, 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7FA"/>
              </a:buClr>
              <a:buSzPts val="984"/>
              <a:buFont typeface="Calibri"/>
              <a:buNone/>
            </a:pP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but </a:t>
            </a: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dangerous</a:t>
            </a: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for anyone tired, gloved or operating remotely. 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7FA"/>
              </a:buClr>
              <a:buSzPts val="984"/>
              <a:buFont typeface="Calibri"/>
              <a:buNone/>
            </a:pPr>
            <a:r>
              <a:t/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7FA"/>
              </a:buClr>
              <a:buSzPts val="984"/>
              <a:buFont typeface="Calibri"/>
              <a:buNone/>
            </a:pP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a robot, it is even harder because : 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119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4"/>
              <a:buFont typeface="Inter"/>
              <a:buChar char="-"/>
            </a:pPr>
            <a:r>
              <a:rPr b="1"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Poor Sight </a:t>
            </a: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Cameras get blocked or blurred.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119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4"/>
              <a:buFont typeface="Inter"/>
              <a:buChar char="-"/>
            </a:pPr>
            <a:r>
              <a:rPr b="1"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Drift :</a:t>
            </a: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robot cannot hold completely still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119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4"/>
              <a:buFont typeface="Inter"/>
              <a:buChar char="-"/>
            </a:pPr>
            <a:r>
              <a:rPr b="1"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Blind Touch </a:t>
            </a: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It has to feel its way into the clip.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119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84"/>
              <a:buFont typeface="Inter"/>
              <a:buChar char="-"/>
            </a:pPr>
            <a:r>
              <a:rPr b="1"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Mistakes </a:t>
            </a:r>
            <a:r>
              <a:rPr lang="en" sz="1284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A wrong guess means failing.</a:t>
            </a:r>
            <a:endParaRPr sz="128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48"/>
          <p:cNvSpPr txBox="1"/>
          <p:nvPr/>
        </p:nvSpPr>
        <p:spPr>
          <a:xfrm>
            <a:off x="483369" y="3286889"/>
            <a:ext cx="80109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9FF"/>
              </a:buClr>
              <a:buSzPts val="1097"/>
              <a:buFont typeface="Cambria"/>
              <a:buNone/>
            </a:pPr>
            <a:r>
              <a:t/>
            </a:r>
            <a:endParaRPr b="0" i="0" sz="1397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/>
          <p:nvPr>
            <p:ph type="title"/>
          </p:nvPr>
        </p:nvSpPr>
        <p:spPr>
          <a:xfrm>
            <a:off x="284850" y="285900"/>
            <a:ext cx="8499000" cy="8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{Solution} :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Action Chunking Transformer (ACT)</a:t>
            </a:r>
            <a:endParaRPr sz="3200"/>
          </a:p>
        </p:txBody>
      </p:sp>
      <p:sp>
        <p:nvSpPr>
          <p:cNvPr id="379" name="Google Shape;379;p49"/>
          <p:cNvSpPr txBox="1"/>
          <p:nvPr/>
        </p:nvSpPr>
        <p:spPr>
          <a:xfrm>
            <a:off x="652402" y="1110025"/>
            <a:ext cx="295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32C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9"/>
          <p:cNvSpPr txBox="1"/>
          <p:nvPr/>
        </p:nvSpPr>
        <p:spPr>
          <a:xfrm>
            <a:off x="326950" y="1268575"/>
            <a:ext cx="82188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32C3A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b="1" lang="en" sz="1200">
                <a:solidFill>
                  <a:srgbClr val="132C3A"/>
                </a:solidFill>
                <a:latin typeface="Inter"/>
                <a:ea typeface="Inter"/>
                <a:cs typeface="Inter"/>
                <a:sym typeface="Inter"/>
              </a:rPr>
              <a:t> ACT (“Action Chunking Transformer”)</a:t>
            </a:r>
            <a:r>
              <a:rPr lang="en" sz="1200">
                <a:solidFill>
                  <a:srgbClr val="132C3A"/>
                </a:solidFill>
                <a:latin typeface="Inter"/>
                <a:ea typeface="Inter"/>
                <a:cs typeface="Inter"/>
                <a:sym typeface="Inter"/>
              </a:rPr>
              <a:t>, we physically move the robot arm through the task over and over, recording camera images + joint positions the whole time. </a:t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32C3A"/>
                </a:solidFill>
                <a:latin typeface="Inter"/>
                <a:ea typeface="Inter"/>
                <a:cs typeface="Inter"/>
                <a:sym typeface="Inter"/>
              </a:rPr>
              <a:t>ACT then learns to predict - </a:t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  <a:highlight>
                  <a:schemeClr val="dk1"/>
                </a:highlight>
                <a:latin typeface="Inter"/>
                <a:ea typeface="Inter"/>
                <a:cs typeface="Inter"/>
                <a:sym typeface="Inter"/>
              </a:rPr>
              <a:t>“given what I currently know, and see where my arm is, what is the next little burst of motion that I could predict?” </a:t>
            </a:r>
            <a:endParaRPr sz="1100">
              <a:solidFill>
                <a:srgbClr val="1155CC"/>
              </a:solidFill>
              <a:highlight>
                <a:schemeClr val="dk1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32C3A"/>
                </a:solidFill>
                <a:latin typeface="Inter"/>
                <a:ea typeface="Inter"/>
                <a:cs typeface="Inter"/>
                <a:sym typeface="Inter"/>
              </a:rPr>
              <a:t>We chose ACT because it is </a:t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Roboto"/>
              <a:buChar char="-"/>
            </a:pPr>
            <a:r>
              <a:rPr b="1"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Fast Training:</a:t>
            </a:r>
            <a:r>
              <a:rPr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Trains in a few hours on a single GPU + less jittery with smoothening</a:t>
            </a:r>
            <a:endParaRPr sz="125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Roboto"/>
              <a:buChar char="-"/>
            </a:pPr>
            <a:r>
              <a:rPr b="1"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Lightweight: </a:t>
            </a:r>
            <a:r>
              <a:rPr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Only ~80M parameters, making it efficient and easy to work with</a:t>
            </a:r>
            <a:endParaRPr sz="125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Roboto"/>
              <a:buChar char="-"/>
            </a:pPr>
            <a:r>
              <a:rPr b="1"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Data Efficient:</a:t>
            </a:r>
            <a:r>
              <a:rPr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Often achieves high success rates with just 50 demonstrations</a:t>
            </a:r>
            <a:endParaRPr sz="1250">
              <a:solidFill>
                <a:schemeClr val="lt1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Source : </a:t>
            </a:r>
            <a:r>
              <a:rPr lang="en" sz="1250" u="sng">
                <a:solidFill>
                  <a:srgbClr val="1155CC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https://huggingface.co/docs/lerobot/en/act</a:t>
            </a:r>
            <a:r>
              <a:rPr lang="en" sz="1250">
                <a:solidFill>
                  <a:srgbClr val="1155CC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 +</a:t>
            </a:r>
            <a:r>
              <a:rPr lang="en" sz="1250" u="sng">
                <a:solidFill>
                  <a:srgbClr val="1155CC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https://github.com/makermods-robotics</a:t>
            </a:r>
            <a:endParaRPr sz="1250" u="sng">
              <a:solidFill>
                <a:srgbClr val="1155CC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32C3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50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FSM States :</a:t>
            </a:r>
            <a:endParaRPr/>
          </a:p>
        </p:txBody>
      </p:sp>
      <p:sp>
        <p:nvSpPr>
          <p:cNvPr id="387" name="Google Shape;387;p50"/>
          <p:cNvSpPr/>
          <p:nvPr/>
        </p:nvSpPr>
        <p:spPr>
          <a:xfrm>
            <a:off x="457200" y="1570270"/>
            <a:ext cx="1504800" cy="702300"/>
          </a:xfrm>
          <a:prstGeom prst="roundRect">
            <a:avLst>
              <a:gd fmla="val 7143" name="adj"/>
            </a:avLst>
          </a:prstGeom>
          <a:solidFill>
            <a:srgbClr val="17323F"/>
          </a:solidFill>
          <a:ln cap="flat" cmpd="sng" w="9950">
            <a:solidFill>
              <a:srgbClr val="2C5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50" lIns="71650" spcFirstLastPara="1" rIns="71650" wrap="square" tIns="71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0"/>
          <p:cNvSpPr txBox="1"/>
          <p:nvPr/>
        </p:nvSpPr>
        <p:spPr>
          <a:xfrm>
            <a:off x="457200" y="1627599"/>
            <a:ext cx="15048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900" lIns="19900" spcFirstLastPara="1" rIns="19900" wrap="square" tIns="19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7FA"/>
              </a:buClr>
              <a:buSzPts val="1176"/>
              <a:buFont typeface="Calibri"/>
              <a:buNone/>
            </a:pPr>
            <a:r>
              <a:rPr b="1" i="0" lang="en" sz="1176" u="none" cap="none" strike="noStrike">
                <a:solidFill>
                  <a:srgbClr val="F2F7FA"/>
                </a:solidFill>
                <a:latin typeface="Calibri"/>
                <a:ea typeface="Calibri"/>
                <a:cs typeface="Calibri"/>
                <a:sym typeface="Calibri"/>
              </a:rPr>
              <a:t>INITIAL</a:t>
            </a:r>
            <a:endParaRPr b="0" i="0" sz="11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6D1"/>
              </a:buClr>
              <a:buSzPts val="862"/>
              <a:buFont typeface="Calibri"/>
              <a:buNone/>
            </a:pPr>
            <a:r>
              <a:rPr b="0" i="0" lang="en" sz="862" u="none" cap="none" strike="noStrike">
                <a:solidFill>
                  <a:srgbClr val="AFC6D1"/>
                </a:solidFill>
                <a:latin typeface="Calibri"/>
                <a:ea typeface="Calibri"/>
                <a:cs typeface="Calibri"/>
                <a:sym typeface="Calibri"/>
              </a:rPr>
              <a:t>preflight + observe</a:t>
            </a:r>
            <a:endParaRPr b="0" i="0" sz="11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9" name="Google Shape;389;p50"/>
          <p:cNvGrpSpPr/>
          <p:nvPr/>
        </p:nvGrpSpPr>
        <p:grpSpPr>
          <a:xfrm>
            <a:off x="3642327" y="1570270"/>
            <a:ext cx="1504800" cy="702300"/>
            <a:chOff x="2248727" y="1570270"/>
            <a:chExt cx="1504800" cy="702300"/>
          </a:xfrm>
        </p:grpSpPr>
        <p:sp>
          <p:nvSpPr>
            <p:cNvPr id="390" name="Google Shape;390;p50"/>
            <p:cNvSpPr/>
            <p:nvPr/>
          </p:nvSpPr>
          <p:spPr>
            <a:xfrm>
              <a:off x="2248727" y="1570270"/>
              <a:ext cx="1504800" cy="702300"/>
            </a:xfrm>
            <a:prstGeom prst="roundRect">
              <a:avLst>
                <a:gd fmla="val 7143" name="adj"/>
              </a:avLst>
            </a:prstGeom>
            <a:solidFill>
              <a:srgbClr val="17323F"/>
            </a:solidFill>
            <a:ln cap="flat" cmpd="sng" w="9950">
              <a:solidFill>
                <a:srgbClr val="2C54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50" lIns="71650" spcFirstLastPara="1" rIns="71650" wrap="square" tIns="7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0"/>
            <p:cNvSpPr txBox="1"/>
            <p:nvPr/>
          </p:nvSpPr>
          <p:spPr>
            <a:xfrm>
              <a:off x="2248727" y="1627599"/>
              <a:ext cx="15048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900" lIns="19900" spcFirstLastPara="1" rIns="19900" wrap="square" tIns="19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2F7FA"/>
                </a:buClr>
                <a:buSzPts val="1176"/>
                <a:buFont typeface="Calibri"/>
                <a:buNone/>
              </a:pPr>
              <a:r>
                <a:rPr b="1" i="0" lang="en" sz="1176" u="none" cap="none" strike="noStrike">
                  <a:solidFill>
                    <a:srgbClr val="F2F7FA"/>
                  </a:solidFill>
                  <a:latin typeface="Calibri"/>
                  <a:ea typeface="Calibri"/>
                  <a:cs typeface="Calibri"/>
                  <a:sym typeface="Calibri"/>
                </a:rPr>
                <a:t>SEARCH_RL</a:t>
              </a:r>
              <a:endParaRPr b="0" i="0" sz="11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FC6D1"/>
                </a:buClr>
                <a:buSzPts val="862"/>
                <a:buFont typeface="Calibri"/>
                <a:buNone/>
              </a:pPr>
              <a:r>
                <a:rPr b="0" i="0" lang="en" sz="862" u="none" cap="none" strike="noStrike">
                  <a:solidFill>
                    <a:srgbClr val="AFC6D1"/>
                  </a:solidFill>
                  <a:latin typeface="Calibri"/>
                  <a:ea typeface="Calibri"/>
                  <a:cs typeface="Calibri"/>
                  <a:sym typeface="Calibri"/>
                </a:rPr>
                <a:t>learned search</a:t>
              </a:r>
              <a:endParaRPr b="0" i="0" sz="11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50"/>
          <p:cNvGrpSpPr/>
          <p:nvPr/>
        </p:nvGrpSpPr>
        <p:grpSpPr>
          <a:xfrm>
            <a:off x="3642329" y="2571745"/>
            <a:ext cx="1504800" cy="702300"/>
            <a:chOff x="4040254" y="1570270"/>
            <a:chExt cx="1504800" cy="702300"/>
          </a:xfrm>
        </p:grpSpPr>
        <p:sp>
          <p:nvSpPr>
            <p:cNvPr id="393" name="Google Shape;393;p50"/>
            <p:cNvSpPr/>
            <p:nvPr/>
          </p:nvSpPr>
          <p:spPr>
            <a:xfrm>
              <a:off x="4040254" y="1570270"/>
              <a:ext cx="1504800" cy="702300"/>
            </a:xfrm>
            <a:prstGeom prst="roundRect">
              <a:avLst>
                <a:gd fmla="val 7143" name="adj"/>
              </a:avLst>
            </a:prstGeom>
            <a:solidFill>
              <a:srgbClr val="17323F"/>
            </a:solidFill>
            <a:ln cap="flat" cmpd="sng" w="9950">
              <a:solidFill>
                <a:srgbClr val="2C54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50" lIns="71650" spcFirstLastPara="1" rIns="71650" wrap="square" tIns="7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0"/>
            <p:cNvSpPr txBox="1"/>
            <p:nvPr/>
          </p:nvSpPr>
          <p:spPr>
            <a:xfrm>
              <a:off x="4040254" y="1627599"/>
              <a:ext cx="15048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900" lIns="19900" spcFirstLastPara="1" rIns="19900" wrap="square" tIns="19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2F7FA"/>
                </a:buClr>
                <a:buSzPts val="1176"/>
                <a:buFont typeface="Calibri"/>
                <a:buNone/>
              </a:pPr>
              <a:r>
                <a:rPr b="1" i="0" lang="en" sz="1176" u="none" cap="none" strike="noStrike">
                  <a:solidFill>
                    <a:srgbClr val="F2F7FA"/>
                  </a:solidFill>
                  <a:latin typeface="Calibri"/>
                  <a:ea typeface="Calibri"/>
                  <a:cs typeface="Calibri"/>
                  <a:sym typeface="Calibri"/>
                </a:rPr>
                <a:t>SEARCH_CV</a:t>
              </a:r>
              <a:endParaRPr b="0" i="0" sz="11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FC6D1"/>
                </a:buClr>
                <a:buSzPts val="862"/>
                <a:buFont typeface="Calibri"/>
                <a:buNone/>
              </a:pPr>
              <a:r>
                <a:rPr b="0" i="0" lang="en" sz="862" u="none" cap="none" strike="noStrike">
                  <a:solidFill>
                    <a:srgbClr val="AFC6D1"/>
                  </a:solidFill>
                  <a:latin typeface="Calibri"/>
                  <a:ea typeface="Calibri"/>
                  <a:cs typeface="Calibri"/>
                  <a:sym typeface="Calibri"/>
                </a:rPr>
                <a:t>calibrated follow</a:t>
              </a:r>
              <a:endParaRPr b="0" i="0" sz="11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50"/>
          <p:cNvGrpSpPr/>
          <p:nvPr/>
        </p:nvGrpSpPr>
        <p:grpSpPr>
          <a:xfrm>
            <a:off x="3642331" y="3539195"/>
            <a:ext cx="1504800" cy="702300"/>
            <a:chOff x="5831781" y="1570270"/>
            <a:chExt cx="1504800" cy="702300"/>
          </a:xfrm>
        </p:grpSpPr>
        <p:sp>
          <p:nvSpPr>
            <p:cNvPr id="396" name="Google Shape;396;p50"/>
            <p:cNvSpPr/>
            <p:nvPr/>
          </p:nvSpPr>
          <p:spPr>
            <a:xfrm>
              <a:off x="5831781" y="1570270"/>
              <a:ext cx="1504800" cy="702300"/>
            </a:xfrm>
            <a:prstGeom prst="roundRect">
              <a:avLst>
                <a:gd fmla="val 7143" name="adj"/>
              </a:avLst>
            </a:prstGeom>
            <a:solidFill>
              <a:srgbClr val="17323F"/>
            </a:solidFill>
            <a:ln cap="flat" cmpd="sng" w="9950">
              <a:solidFill>
                <a:srgbClr val="2C54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50" lIns="71650" spcFirstLastPara="1" rIns="71650" wrap="square" tIns="7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0"/>
            <p:cNvSpPr txBox="1"/>
            <p:nvPr/>
          </p:nvSpPr>
          <p:spPr>
            <a:xfrm>
              <a:off x="5831781" y="1627599"/>
              <a:ext cx="15048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900" lIns="19900" spcFirstLastPara="1" rIns="19900" wrap="square" tIns="199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2F7FA"/>
                </a:buClr>
                <a:buSzPts val="1176"/>
                <a:buFont typeface="Calibri"/>
                <a:buNone/>
              </a:pPr>
              <a:r>
                <a:rPr b="1" i="0" lang="en" sz="1176" u="none" cap="none" strike="noStrike">
                  <a:solidFill>
                    <a:srgbClr val="F2F7FA"/>
                  </a:solidFill>
                  <a:latin typeface="Calibri"/>
                  <a:ea typeface="Calibri"/>
                  <a:cs typeface="Calibri"/>
                  <a:sym typeface="Calibri"/>
                </a:rPr>
                <a:t>CLIP_RL</a:t>
              </a:r>
              <a:endParaRPr b="0" i="0" sz="11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AFC6D1"/>
                </a:buClr>
                <a:buSzPts val="862"/>
                <a:buFont typeface="Calibri"/>
                <a:buNone/>
              </a:pPr>
              <a:r>
                <a:rPr b="0" i="0" lang="en" sz="862" u="none" cap="none" strike="noStrike">
                  <a:solidFill>
                    <a:srgbClr val="AFC6D1"/>
                  </a:solidFill>
                  <a:latin typeface="Calibri"/>
                  <a:ea typeface="Calibri"/>
                  <a:cs typeface="Calibri"/>
                  <a:sym typeface="Calibri"/>
                </a:rPr>
                <a:t>grasp + clip</a:t>
              </a:r>
              <a:endParaRPr b="0" i="0" sz="117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50"/>
          <p:cNvGrpSpPr/>
          <p:nvPr/>
        </p:nvGrpSpPr>
        <p:grpSpPr>
          <a:xfrm>
            <a:off x="6694017" y="3725501"/>
            <a:ext cx="1469100" cy="329700"/>
            <a:chOff x="7838292" y="1362451"/>
            <a:chExt cx="1469100" cy="329700"/>
          </a:xfrm>
        </p:grpSpPr>
        <p:sp>
          <p:nvSpPr>
            <p:cNvPr id="399" name="Google Shape;399;p50"/>
            <p:cNvSpPr/>
            <p:nvPr/>
          </p:nvSpPr>
          <p:spPr>
            <a:xfrm>
              <a:off x="7838292" y="1362451"/>
              <a:ext cx="1469100" cy="329700"/>
            </a:xfrm>
            <a:prstGeom prst="roundRect">
              <a:avLst>
                <a:gd fmla="val 13043" name="adj"/>
              </a:avLst>
            </a:prstGeom>
            <a:solidFill>
              <a:srgbClr val="17323F"/>
            </a:solidFill>
            <a:ln cap="flat" cmpd="sng" w="14925">
              <a:solidFill>
                <a:srgbClr val="6FD7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50" lIns="71650" spcFirstLastPara="1" rIns="71650" wrap="square" tIns="7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0"/>
            <p:cNvSpPr txBox="1"/>
            <p:nvPr/>
          </p:nvSpPr>
          <p:spPr>
            <a:xfrm>
              <a:off x="7938617" y="1362451"/>
              <a:ext cx="13257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FD79A"/>
                </a:buClr>
                <a:buSzPts val="940"/>
                <a:buFont typeface="Calibri"/>
                <a:buNone/>
              </a:pPr>
              <a:r>
                <a:rPr b="1" i="0" lang="en" sz="940" u="none" cap="none" strike="noStrike">
                  <a:solidFill>
                    <a:srgbClr val="6FD79A"/>
                  </a:solidFill>
                  <a:latin typeface="Calibri"/>
                  <a:ea typeface="Calibri"/>
                  <a:cs typeface="Calibri"/>
                  <a:sym typeface="Calibri"/>
                </a:rPr>
                <a:t>SUCCESS  </a:t>
              </a:r>
              <a:r>
                <a:rPr b="0" i="0" lang="en" sz="784" u="none" cap="none" strike="noStrike">
                  <a:solidFill>
                    <a:srgbClr val="AFC6D1"/>
                  </a:solidFill>
                  <a:latin typeface="Calibri"/>
                  <a:ea typeface="Calibri"/>
                  <a:cs typeface="Calibri"/>
                  <a:sym typeface="Calibri"/>
                </a:rPr>
                <a:t>verified only</a:t>
              </a:r>
              <a:endParaRPr b="0" i="0" sz="9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50"/>
          <p:cNvGrpSpPr/>
          <p:nvPr/>
        </p:nvGrpSpPr>
        <p:grpSpPr>
          <a:xfrm>
            <a:off x="6694017" y="4241502"/>
            <a:ext cx="1469100" cy="329700"/>
            <a:chOff x="7838292" y="2150727"/>
            <a:chExt cx="1469100" cy="329700"/>
          </a:xfrm>
        </p:grpSpPr>
        <p:sp>
          <p:nvSpPr>
            <p:cNvPr id="402" name="Google Shape;402;p50"/>
            <p:cNvSpPr/>
            <p:nvPr/>
          </p:nvSpPr>
          <p:spPr>
            <a:xfrm>
              <a:off x="7838292" y="2150727"/>
              <a:ext cx="1469100" cy="329700"/>
            </a:xfrm>
            <a:prstGeom prst="roundRect">
              <a:avLst>
                <a:gd fmla="val 13043" name="adj"/>
              </a:avLst>
            </a:prstGeom>
            <a:solidFill>
              <a:srgbClr val="17323F"/>
            </a:solidFill>
            <a:ln cap="flat" cmpd="sng" w="14925">
              <a:solidFill>
                <a:srgbClr val="F2C4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1650" lIns="71650" spcFirstLastPara="1" rIns="71650" wrap="square" tIns="7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0"/>
            <p:cNvSpPr txBox="1"/>
            <p:nvPr/>
          </p:nvSpPr>
          <p:spPr>
            <a:xfrm>
              <a:off x="7938617" y="2150727"/>
              <a:ext cx="13257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2C464"/>
                </a:buClr>
                <a:buSzPts val="940"/>
                <a:buFont typeface="Calibri"/>
                <a:buNone/>
              </a:pPr>
              <a:r>
                <a:rPr b="1" i="0" lang="en" sz="940" u="none" cap="none" strike="noStrike">
                  <a:solidFill>
                    <a:srgbClr val="F2C464"/>
                  </a:solidFill>
                  <a:latin typeface="Calibri"/>
                  <a:ea typeface="Calibri"/>
                  <a:cs typeface="Calibri"/>
                  <a:sym typeface="Calibri"/>
                </a:rPr>
                <a:t>FAILED  </a:t>
              </a:r>
              <a:r>
                <a:rPr b="0" i="0" lang="en" sz="784" u="none" cap="none" strike="noStrike">
                  <a:solidFill>
                    <a:srgbClr val="AFC6D1"/>
                  </a:solidFill>
                  <a:latin typeface="Calibri"/>
                  <a:ea typeface="Calibri"/>
                  <a:cs typeface="Calibri"/>
                  <a:sym typeface="Calibri"/>
                </a:rPr>
                <a:t>budget exhausted</a:t>
              </a:r>
              <a:endParaRPr b="0" i="0" sz="9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4" name="Google Shape;404;p50"/>
          <p:cNvCxnSpPr>
            <a:stCxn id="390" idx="2"/>
            <a:endCxn id="393" idx="0"/>
          </p:cNvCxnSpPr>
          <p:nvPr/>
        </p:nvCxnSpPr>
        <p:spPr>
          <a:xfrm>
            <a:off x="4394727" y="2272570"/>
            <a:ext cx="0" cy="299100"/>
          </a:xfrm>
          <a:prstGeom prst="straightConnector1">
            <a:avLst/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50"/>
          <p:cNvCxnSpPr>
            <a:stCxn id="393" idx="2"/>
            <a:endCxn id="396" idx="0"/>
          </p:cNvCxnSpPr>
          <p:nvPr/>
        </p:nvCxnSpPr>
        <p:spPr>
          <a:xfrm>
            <a:off x="4394729" y="3274045"/>
            <a:ext cx="0" cy="265200"/>
          </a:xfrm>
          <a:prstGeom prst="straightConnector1">
            <a:avLst/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50"/>
          <p:cNvCxnSpPr>
            <a:stCxn id="397" idx="3"/>
            <a:endCxn id="399" idx="1"/>
          </p:cNvCxnSpPr>
          <p:nvPr/>
        </p:nvCxnSpPr>
        <p:spPr>
          <a:xfrm>
            <a:off x="5147131" y="3890224"/>
            <a:ext cx="1546800" cy="0"/>
          </a:xfrm>
          <a:prstGeom prst="straightConnector1">
            <a:avLst/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50"/>
          <p:cNvCxnSpPr>
            <a:stCxn id="397" idx="3"/>
            <a:endCxn id="391" idx="3"/>
          </p:cNvCxnSpPr>
          <p:nvPr/>
        </p:nvCxnSpPr>
        <p:spPr>
          <a:xfrm flipH="1" rot="10800000">
            <a:off x="5147131" y="1921324"/>
            <a:ext cx="600" cy="1968900"/>
          </a:xfrm>
          <a:prstGeom prst="bentConnector3">
            <a:avLst>
              <a:gd fmla="val 104498933" name="adj1"/>
            </a:avLst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50"/>
          <p:cNvCxnSpPr>
            <a:endCxn id="402" idx="1"/>
          </p:cNvCxnSpPr>
          <p:nvPr/>
        </p:nvCxnSpPr>
        <p:spPr>
          <a:xfrm>
            <a:off x="5147217" y="3890352"/>
            <a:ext cx="1546800" cy="516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9" name="Google Shape;409;p50"/>
          <p:cNvCxnSpPr>
            <a:endCxn id="391" idx="1"/>
          </p:cNvCxnSpPr>
          <p:nvPr/>
        </p:nvCxnSpPr>
        <p:spPr>
          <a:xfrm>
            <a:off x="1962027" y="1921299"/>
            <a:ext cx="1680300" cy="0"/>
          </a:xfrm>
          <a:prstGeom prst="straightConnector1">
            <a:avLst/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50"/>
          <p:cNvCxnSpPr>
            <a:endCxn id="394" idx="1"/>
          </p:cNvCxnSpPr>
          <p:nvPr/>
        </p:nvCxnSpPr>
        <p:spPr>
          <a:xfrm>
            <a:off x="1962029" y="1921374"/>
            <a:ext cx="1680300" cy="1001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50"/>
          <p:cNvCxnSpPr>
            <a:stCxn id="388" idx="3"/>
            <a:endCxn id="397" idx="1"/>
          </p:cNvCxnSpPr>
          <p:nvPr/>
        </p:nvCxnSpPr>
        <p:spPr>
          <a:xfrm>
            <a:off x="1962000" y="1921299"/>
            <a:ext cx="1680300" cy="19689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" name="Google Shape;412;p50"/>
          <p:cNvCxnSpPr>
            <a:endCxn id="391" idx="3"/>
          </p:cNvCxnSpPr>
          <p:nvPr/>
        </p:nvCxnSpPr>
        <p:spPr>
          <a:xfrm rot="-5400000">
            <a:off x="4646127" y="2421699"/>
            <a:ext cx="1001400" cy="600"/>
          </a:xfrm>
          <a:prstGeom prst="bentConnector4">
            <a:avLst>
              <a:gd fmla="val -991" name="adj1"/>
              <a:gd fmla="val 104599645" name="adj2"/>
            </a:avLst>
          </a:prstGeom>
          <a:noFill/>
          <a:ln cap="flat" cmpd="sng" w="9525">
            <a:solidFill>
              <a:srgbClr val="6FE3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the carabiner?</a:t>
            </a:r>
            <a:endParaRPr/>
          </a:p>
        </p:txBody>
      </p:sp>
      <p:pic>
        <p:nvPicPr>
          <p:cNvPr id="418" name="Google Shape;418;p51" title="Screen Recording 2026-08-29 at 4.50.08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7288" y="859071"/>
            <a:ext cx="6132933" cy="408180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1"/>
          <p:cNvSpPr txBox="1"/>
          <p:nvPr/>
        </p:nvSpPr>
        <p:spPr>
          <a:xfrm>
            <a:off x="214800" y="1440575"/>
            <a:ext cx="20574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 white points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Position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 black point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Orientation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p52"/>
          <p:cNvPicPr preferRelativeResize="0"/>
          <p:nvPr/>
        </p:nvPicPr>
        <p:blipFill rotWithShape="1">
          <a:blip r:embed="rId3">
            <a:alphaModFix/>
          </a:blip>
          <a:srcRect b="11331" l="0" r="0" t="136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3" name="Google Shape;4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3"/>
          <p:cNvSpPr txBox="1"/>
          <p:nvPr/>
        </p:nvSpPr>
        <p:spPr>
          <a:xfrm>
            <a:off x="677700" y="124350"/>
            <a:ext cx="16617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